
<file path=[Content_Types].xml><?xml version="1.0" encoding="utf-8"?>
<Types xmlns="http://schemas.openxmlformats.org/package/2006/content-types">
  <Default Extension="jpeg" ContentType="image/jpeg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9" r:id="rId9"/>
    <p:sldId id="268" r:id="rId10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50" d="100"/>
          <a:sy n="50" d="100"/>
        </p:scale>
        <p:origin x="946" y="44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6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6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6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6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60777" y="541985"/>
            <a:ext cx="13576300" cy="1031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6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642617" y="3460242"/>
            <a:ext cx="12404090" cy="26606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160777" y="541985"/>
            <a:ext cx="13576300" cy="6424516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Times New Roman" panose="02020603050405020304"/>
              <a:buNone/>
            </a:pPr>
            <a:r>
              <a:rPr lang="en-US" sz="40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SIMATS SCHOOL OF ENGINEERING</a:t>
            </a:r>
            <a:br>
              <a:rPr lang="en-US" sz="40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en-US" sz="40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SAVEETHA INSTITUTE OF MEDICAL AND TECHNICAL SCIENCES</a:t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Expressions for Real-World Text Processing</a:t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DSA0302-</a:t>
            </a:r>
            <a:r>
              <a:rPr lang="en-IN" sz="4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Processing</a:t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7116B298-CCD4-E39F-956D-3C144951C41E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3260577" y="8236434"/>
            <a:ext cx="4953000" cy="1662113"/>
          </a:xfrm>
        </p:spPr>
        <p:txBody>
          <a:bodyPr/>
          <a:lstStyle/>
          <a:p>
            <a:r>
              <a:rPr lang="en-US" sz="3600" dirty="0"/>
              <a:t>Faculty:</a:t>
            </a:r>
          </a:p>
          <a:p>
            <a:r>
              <a:rPr lang="en-US" sz="3600" dirty="0"/>
              <a:t>            </a:t>
            </a:r>
            <a:r>
              <a:rPr lang="en-US" sz="3600" dirty="0" err="1"/>
              <a:t>Dr.T.Devi</a:t>
            </a:r>
            <a:endParaRPr lang="en-US" sz="3600" dirty="0"/>
          </a:p>
          <a:p>
            <a:endParaRPr lang="en-IN" sz="3600" dirty="0"/>
          </a:p>
        </p:txBody>
      </p:sp>
      <p:sp>
        <p:nvSpPr>
          <p:cNvPr id="3" name="object 3"/>
          <p:cNvSpPr txBox="1"/>
          <p:nvPr/>
        </p:nvSpPr>
        <p:spPr>
          <a:xfrm>
            <a:off x="15240" y="7706485"/>
            <a:ext cx="5981065" cy="2285241"/>
          </a:xfrm>
          <a:prstGeom prst="rect">
            <a:avLst/>
          </a:prstGeom>
        </p:spPr>
        <p:txBody>
          <a:bodyPr vert="horz" wrap="square" lIns="0" tIns="287020" rIns="0" bIns="0" rtlCol="0">
            <a:spAutoFit/>
          </a:bodyPr>
          <a:lstStyle/>
          <a:p>
            <a:pPr marL="8890" algn="ctr">
              <a:lnSpc>
                <a:spcPct val="100000"/>
              </a:lnSpc>
              <a:spcBef>
                <a:spcPts val="2260"/>
              </a:spcBef>
            </a:pPr>
            <a:r>
              <a:rPr sz="3600" dirty="0">
                <a:latin typeface="Times New Roman"/>
                <a:cs typeface="Times New Roman"/>
              </a:rPr>
              <a:t>Presented</a:t>
            </a:r>
            <a:r>
              <a:rPr sz="3600" spc="-100" dirty="0">
                <a:latin typeface="Times New Roman"/>
                <a:cs typeface="Times New Roman"/>
              </a:rPr>
              <a:t> </a:t>
            </a:r>
            <a:r>
              <a:rPr sz="3600" spc="-25" dirty="0">
                <a:latin typeface="Times New Roman"/>
                <a:cs typeface="Times New Roman"/>
              </a:rPr>
              <a:t>by:</a:t>
            </a:r>
            <a:endParaRPr sz="3600" dirty="0">
              <a:latin typeface="Times New Roman"/>
              <a:cs typeface="Times New Roman"/>
            </a:endParaRPr>
          </a:p>
          <a:p>
            <a:pPr marL="2540" algn="ctr">
              <a:lnSpc>
                <a:spcPct val="100000"/>
              </a:lnSpc>
              <a:spcBef>
                <a:spcPts val="2160"/>
              </a:spcBef>
            </a:pPr>
            <a:r>
              <a:rPr sz="3600" dirty="0">
                <a:latin typeface="Times New Roman"/>
                <a:cs typeface="Times New Roman"/>
              </a:rPr>
              <a:t>J.Raju</a:t>
            </a:r>
            <a:r>
              <a:rPr sz="3600" spc="-25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(192325117)</a:t>
            </a:r>
            <a:endParaRPr sz="3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75"/>
              </a:spcBef>
            </a:pPr>
            <a:endParaRPr sz="360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5940" y="287654"/>
            <a:ext cx="1654810" cy="201371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770860" y="287654"/>
            <a:ext cx="2279650" cy="201396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937884" y="679145"/>
            <a:ext cx="6343650" cy="1031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spc="-10" dirty="0">
                <a:latin typeface="Times New Roman"/>
                <a:cs typeface="Times New Roman"/>
              </a:rPr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6276" y="3390900"/>
            <a:ext cx="16430625" cy="490781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marR="5080" indent="-457200" algn="just">
              <a:lnSpc>
                <a:spcPct val="13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Expressions (Regex) are patterns used to search and process text.</a:t>
            </a:r>
          </a:p>
          <a:p>
            <a:pPr marL="469900" marR="5080" indent="-457200" algn="just">
              <a:lnSpc>
                <a:spcPct val="13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help computers identify specific text formats quickly.</a:t>
            </a:r>
          </a:p>
          <a:p>
            <a:pPr marL="469900" marR="5080" indent="-457200" algn="just">
              <a:lnSpc>
                <a:spcPct val="13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Regex is widely used in NLP, web development, cybersecurity, and data analysis.</a:t>
            </a:r>
          </a:p>
          <a:p>
            <a:pPr marL="469900" marR="5080" indent="-457200" algn="just">
              <a:lnSpc>
                <a:spcPct val="13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simplifies complex text-processing tasks and improves efficiency. </a:t>
            </a:r>
          </a:p>
          <a:p>
            <a:pPr marL="469900" marR="5080" indent="-457200" algn="just">
              <a:lnSpc>
                <a:spcPct val="13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Regex helps automate repetitive tasks such as searching, validating, and extracting information from text.</a:t>
            </a:r>
          </a:p>
          <a:p>
            <a:pPr marL="469900" marR="5080" indent="-457200" algn="just">
              <a:lnSpc>
                <a:spcPct val="13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004" y="287642"/>
            <a:ext cx="1058545" cy="125578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592550" y="287654"/>
            <a:ext cx="1458340" cy="125602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363345" y="1483760"/>
            <a:ext cx="1357630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21200">
              <a:lnSpc>
                <a:spcPct val="100000"/>
              </a:lnSpc>
              <a:spcBef>
                <a:spcPts val="100"/>
              </a:spcBef>
            </a:pPr>
            <a:r>
              <a:rPr lang="en-IN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Expressions</a:t>
            </a:r>
            <a:endParaRPr sz="4500" b="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14422" y="2857500"/>
            <a:ext cx="13592175" cy="2303195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469900" marR="5080" indent="-457200">
              <a:lnSpc>
                <a:spcPts val="3310"/>
              </a:lnSpc>
              <a:spcBef>
                <a:spcPts val="26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Regular Expression is a sequence of characters used to define a search pattern.</a:t>
            </a:r>
          </a:p>
          <a:p>
            <a:pPr marL="469900" marR="5080" indent="-457200">
              <a:lnSpc>
                <a:spcPts val="3310"/>
              </a:lnSpc>
              <a:spcBef>
                <a:spcPts val="26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in matching, finding, replacing, and extracting text.</a:t>
            </a:r>
          </a:p>
          <a:p>
            <a:pPr marL="469900" marR="5080" indent="-457200">
              <a:lnSpc>
                <a:spcPts val="3310"/>
              </a:lnSpc>
              <a:spcBef>
                <a:spcPts val="26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Regular Expression is a sequence of characters used to define a search pattern.</a:t>
            </a:r>
          </a:p>
          <a:p>
            <a:pPr marL="469900" marR="5080" indent="-457200">
              <a:lnSpc>
                <a:spcPts val="3310"/>
              </a:lnSpc>
              <a:spcBef>
                <a:spcPts val="260"/>
              </a:spcBef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marR="5080" indent="-457200">
              <a:lnSpc>
                <a:spcPts val="3310"/>
              </a:lnSpc>
              <a:spcBef>
                <a:spcPts val="260"/>
              </a:spcBef>
              <a:buFont typeface="Arial" panose="020B0604020202020204" pitchFamily="34" charset="0"/>
              <a:buChar char="•"/>
            </a:pP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5940" y="287654"/>
            <a:ext cx="1654810" cy="201371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770860" y="287654"/>
            <a:ext cx="2279650" cy="2013966"/>
          </a:xfrm>
          <a:prstGeom prst="rect">
            <a:avLst/>
          </a:prstGeom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4BB527C-8B67-3D87-F94F-94434CAD9E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054324"/>
              </p:ext>
            </p:extLst>
          </p:nvPr>
        </p:nvGraphicFramePr>
        <p:xfrm>
          <a:off x="2099182" y="4914900"/>
          <a:ext cx="10554336" cy="4648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77168">
                  <a:extLst>
                    <a:ext uri="{9D8B030D-6E8A-4147-A177-3AD203B41FA5}">
                      <a16:colId xmlns:a16="http://schemas.microsoft.com/office/drawing/2014/main" val="3269896422"/>
                    </a:ext>
                  </a:extLst>
                </a:gridCol>
                <a:gridCol w="5277168">
                  <a:extLst>
                    <a:ext uri="{9D8B030D-6E8A-4147-A177-3AD203B41FA5}">
                      <a16:colId xmlns:a16="http://schemas.microsoft.com/office/drawing/2014/main" val="1024201361"/>
                    </a:ext>
                  </a:extLst>
                </a:gridCol>
              </a:tblGrid>
              <a:tr h="7747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Symbol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3878089"/>
                  </a:ext>
                </a:extLst>
              </a:tr>
              <a:tr h="7747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Matches any character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8119485"/>
                  </a:ext>
                </a:extLst>
              </a:tr>
              <a:tr h="7747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Zero or more occurrences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9643118"/>
                  </a:ext>
                </a:extLst>
              </a:tr>
              <a:tr h="7747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One or more occurrences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7690117"/>
                  </a:ext>
                </a:extLst>
              </a:tr>
              <a:tr h="7747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Optional character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7872787"/>
                  </a:ext>
                </a:extLst>
              </a:tr>
              <a:tr h="7747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\d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Any digit (0-9)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760619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70860" y="287020"/>
            <a:ext cx="2279650" cy="2013966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081020" y="826246"/>
            <a:ext cx="13799185" cy="93551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IN" sz="6000" dirty="0"/>
              <a:t>Data Validation Using Regex</a:t>
            </a:r>
            <a:endParaRPr sz="62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81020" y="2933700"/>
            <a:ext cx="11330305" cy="6091411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469900" marR="29209" indent="-457200" algn="just">
              <a:lnSpc>
                <a:spcPct val="139800"/>
              </a:lnSpc>
              <a:spcBef>
                <a:spcPts val="8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users enter information in the correct format.</a:t>
            </a:r>
          </a:p>
          <a:p>
            <a:pPr marL="469900" marR="29209" indent="-457200" algn="just">
              <a:lnSpc>
                <a:spcPct val="139800"/>
              </a:lnSpc>
              <a:spcBef>
                <a:spcPts val="8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invalid data from being stored in databases.</a:t>
            </a:r>
          </a:p>
          <a:p>
            <a:pPr marL="469900" marR="29209" indent="-457200" algn="just">
              <a:lnSpc>
                <a:spcPct val="139800"/>
              </a:lnSpc>
              <a:spcBef>
                <a:spcPts val="8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Validates emails, phone numbers, passwords, and IDs.</a:t>
            </a:r>
          </a:p>
          <a:p>
            <a:pPr marL="469900" marR="29209" indent="-457200" algn="just">
              <a:lnSpc>
                <a:spcPct val="139800"/>
              </a:lnSpc>
              <a:spcBef>
                <a:spcPts val="8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Example:^[A-Za-z0-9._%+-]+@[A-Za-z0-9.-]+\.[A-Za-z]{2,}$</a:t>
            </a:r>
          </a:p>
          <a:p>
            <a:pPr marL="469900" marR="29209" indent="-457200" algn="just">
              <a:lnSpc>
                <a:spcPct val="139800"/>
              </a:lnSpc>
              <a:spcBef>
                <a:spcPts val="8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Commonly used in registration forms and online applications.</a:t>
            </a:r>
          </a:p>
          <a:p>
            <a:pPr marL="469900" marR="29209" indent="-457200" algn="just">
              <a:lnSpc>
                <a:spcPct val="139800"/>
              </a:lnSpc>
              <a:spcBef>
                <a:spcPts val="8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Banking Systems</a:t>
            </a:r>
          </a:p>
          <a:p>
            <a:pPr marL="469900" marR="29209" indent="-457200" algn="just">
              <a:lnSpc>
                <a:spcPct val="139800"/>
              </a:lnSpc>
              <a:spcBef>
                <a:spcPts val="80"/>
              </a:spcBef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University Admission Portals</a:t>
            </a:r>
          </a:p>
          <a:p>
            <a:pPr marL="469900" marR="29209" indent="-457200" algn="just">
              <a:lnSpc>
                <a:spcPct val="139800"/>
              </a:lnSpc>
              <a:spcBef>
                <a:spcPts val="80"/>
              </a:spcBef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</a:p>
          <a:p>
            <a:pPr marL="469900" marR="29209" indent="-457200" algn="just">
              <a:lnSpc>
                <a:spcPct val="139800"/>
              </a:lnSpc>
              <a:spcBef>
                <a:spcPts val="80"/>
              </a:spcBef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Phone Number Validation---^\d{10}$</a:t>
            </a:r>
          </a:p>
          <a:p>
            <a:pPr marL="469900" marR="29209" indent="-457200" algn="just">
              <a:lnSpc>
                <a:spcPct val="139800"/>
              </a:lnSpc>
              <a:spcBef>
                <a:spcPts val="80"/>
              </a:spcBef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Password Validation--^(?=.*[A-Z])(?=.*\d).{8,}$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8305" y="0"/>
            <a:ext cx="1654810" cy="1967483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12C727FE-597F-67B7-2EE0-9D94060359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62000" y="960265"/>
            <a:ext cx="13555345" cy="13978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31260" algn="ctr">
              <a:lnSpc>
                <a:spcPct val="100000"/>
              </a:lnSpc>
              <a:spcBef>
                <a:spcPts val="100"/>
              </a:spcBef>
            </a:pPr>
            <a:r>
              <a:rPr lang="en-IN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Extraction and Information Retrieval</a:t>
            </a:r>
            <a:endParaRPr sz="4500" b="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30947" y="3314700"/>
            <a:ext cx="14826105" cy="45480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60705" indent="-45720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Regex helps extract useful information from unstructured text.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60705" indent="-45720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Extracts useful information from large text documents.</a:t>
            </a:r>
          </a:p>
          <a:p>
            <a:pPr marL="560705" indent="-45720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emails, dates, URLs, and phone numbers.</a:t>
            </a:r>
          </a:p>
          <a:p>
            <a:pPr marL="560705" indent="-45720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effort in data collection.</a:t>
            </a:r>
          </a:p>
          <a:p>
            <a:pPr marL="560705" indent="-45720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</a:p>
          <a:p>
            <a:pPr marL="560705" indent="-45720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Email Addresses:</a:t>
            </a:r>
          </a:p>
          <a:p>
            <a:pPr marL="560705" indent="-45720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[A-Za-z0-9._%+-]+@[A-Za-z0-9.-]+\.[A-Za-z]{2,}</a:t>
            </a:r>
          </a:p>
          <a:p>
            <a:pPr marL="560705" indent="-45720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URLs:</a:t>
            </a:r>
          </a:p>
          <a:p>
            <a:pPr marL="560705" indent="-45720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https?://\S+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5940" y="287654"/>
            <a:ext cx="1654810" cy="201371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770860" y="287654"/>
            <a:ext cx="2279650" cy="201396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5940" y="287654"/>
            <a:ext cx="1654810" cy="2013711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Log Analysis and NLP Applications</a:t>
            </a:r>
            <a:endParaRPr b="0" spc="-10" dirty="0">
              <a:latin typeface="Times New Roman"/>
              <a:cs typeface="Times New Roman"/>
            </a:endParaRP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035E237C-832E-8189-E5E2-9D608323D6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2933700"/>
            <a:ext cx="12751307" cy="7017306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Organizations generate thousands of log records daily.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Log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INFO: User Login Successful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ERROR: Database Connection Failed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WARNING: Low Disk Space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Regex Pattern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ERROR:.*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in Log Analysis: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System Errors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Security Threats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Performance Issues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 Applications of Regex: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Tokenization (splitting text into words)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Chatbots and Virtual Assistants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Named Entity Recognition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770860" y="287654"/>
            <a:ext cx="2279650" cy="201396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65170">
              <a:lnSpc>
                <a:spcPct val="100000"/>
              </a:lnSpc>
              <a:spcBef>
                <a:spcPts val="100"/>
              </a:spcBef>
            </a:pPr>
            <a:r>
              <a:rPr b="0" spc="50" dirty="0">
                <a:latin typeface="Times New Roman"/>
                <a:cs typeface="Times New Roman"/>
              </a:rPr>
              <a:t>IM</a:t>
            </a:r>
            <a:r>
              <a:rPr b="0" spc="35" dirty="0">
                <a:latin typeface="Times New Roman"/>
                <a:cs typeface="Times New Roman"/>
              </a:rPr>
              <a:t>PL</a:t>
            </a:r>
            <a:r>
              <a:rPr b="0" spc="10" dirty="0">
                <a:latin typeface="Times New Roman"/>
                <a:cs typeface="Times New Roman"/>
              </a:rPr>
              <a:t>E</a:t>
            </a:r>
            <a:r>
              <a:rPr b="0" spc="50" dirty="0">
                <a:latin typeface="Times New Roman"/>
                <a:cs typeface="Times New Roman"/>
              </a:rPr>
              <a:t>M</a:t>
            </a:r>
            <a:r>
              <a:rPr b="0" spc="35" dirty="0">
                <a:latin typeface="Times New Roman"/>
                <a:cs typeface="Times New Roman"/>
              </a:rPr>
              <a:t>E</a:t>
            </a:r>
            <a:r>
              <a:rPr b="0" spc="105" dirty="0">
                <a:latin typeface="Times New Roman"/>
                <a:cs typeface="Times New Roman"/>
              </a:rPr>
              <a:t>N</a:t>
            </a:r>
            <a:r>
              <a:rPr b="0" spc="-484" dirty="0">
                <a:latin typeface="Times New Roman"/>
                <a:cs typeface="Times New Roman"/>
              </a:rPr>
              <a:t>T</a:t>
            </a:r>
            <a:r>
              <a:rPr b="0" spc="-690" dirty="0">
                <a:latin typeface="Times New Roman"/>
                <a:cs typeface="Times New Roman"/>
              </a:rPr>
              <a:t>A</a:t>
            </a:r>
            <a:r>
              <a:rPr b="0" spc="35" dirty="0">
                <a:latin typeface="Times New Roman"/>
                <a:cs typeface="Times New Roman"/>
              </a:rPr>
              <a:t>T</a:t>
            </a:r>
            <a:r>
              <a:rPr b="0" spc="50" dirty="0">
                <a:latin typeface="Times New Roman"/>
                <a:cs typeface="Times New Roman"/>
              </a:rPr>
              <a:t>IO</a:t>
            </a:r>
            <a:r>
              <a:rPr b="0" dirty="0">
                <a:latin typeface="Times New Roman"/>
                <a:cs typeface="Times New Roman"/>
              </a:rPr>
              <a:t>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60778" y="2072766"/>
            <a:ext cx="13502768" cy="6737101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 marR="288290">
              <a:lnSpc>
                <a:spcPts val="3340"/>
              </a:lnSpc>
              <a:spcBef>
                <a:spcPts val="235"/>
              </a:spcBef>
            </a:pPr>
            <a:r>
              <a:rPr lang="en-IN" sz="2800" dirty="0">
                <a:latin typeface="Times New Roman"/>
                <a:cs typeface="Times New Roman"/>
              </a:rPr>
              <a:t>import re</a:t>
            </a:r>
          </a:p>
          <a:p>
            <a:pPr marL="12700" marR="288290">
              <a:lnSpc>
                <a:spcPts val="3340"/>
              </a:lnSpc>
              <a:spcBef>
                <a:spcPts val="235"/>
              </a:spcBef>
            </a:pPr>
            <a:endParaRPr lang="en-IN" sz="2800" dirty="0">
              <a:latin typeface="Times New Roman"/>
              <a:cs typeface="Times New Roman"/>
            </a:endParaRPr>
          </a:p>
          <a:p>
            <a:pPr marL="12700" marR="288290">
              <a:lnSpc>
                <a:spcPts val="3340"/>
              </a:lnSpc>
              <a:spcBef>
                <a:spcPts val="235"/>
              </a:spcBef>
            </a:pPr>
            <a:r>
              <a:rPr lang="en-IN" sz="2800" dirty="0">
                <a:latin typeface="Times New Roman"/>
                <a:cs typeface="Times New Roman"/>
              </a:rPr>
              <a:t>text = """</a:t>
            </a:r>
          </a:p>
          <a:p>
            <a:pPr marL="12700" marR="288290">
              <a:lnSpc>
                <a:spcPts val="3340"/>
              </a:lnSpc>
              <a:spcBef>
                <a:spcPts val="235"/>
              </a:spcBef>
            </a:pPr>
            <a:r>
              <a:rPr lang="en-IN" sz="2800" dirty="0">
                <a:latin typeface="Times New Roman"/>
                <a:cs typeface="Times New Roman"/>
              </a:rPr>
              <a:t>Contact: student@gmail.com</a:t>
            </a:r>
          </a:p>
          <a:p>
            <a:pPr marL="12700" marR="288290">
              <a:lnSpc>
                <a:spcPts val="3340"/>
              </a:lnSpc>
              <a:spcBef>
                <a:spcPts val="235"/>
              </a:spcBef>
            </a:pPr>
            <a:r>
              <a:rPr lang="en-IN" sz="2800" dirty="0">
                <a:latin typeface="Times New Roman"/>
                <a:cs typeface="Times New Roman"/>
              </a:rPr>
              <a:t>Phone: 9876543210</a:t>
            </a:r>
          </a:p>
          <a:p>
            <a:pPr marL="12700" marR="288290">
              <a:lnSpc>
                <a:spcPts val="3340"/>
              </a:lnSpc>
              <a:spcBef>
                <a:spcPts val="235"/>
              </a:spcBef>
            </a:pPr>
            <a:r>
              <a:rPr lang="en-IN" sz="2800" dirty="0">
                <a:latin typeface="Times New Roman"/>
                <a:cs typeface="Times New Roman"/>
              </a:rPr>
              <a:t>Date: 15-07-2026</a:t>
            </a:r>
          </a:p>
          <a:p>
            <a:pPr marL="12700" marR="288290">
              <a:lnSpc>
                <a:spcPts val="3340"/>
              </a:lnSpc>
              <a:spcBef>
                <a:spcPts val="235"/>
              </a:spcBef>
            </a:pPr>
            <a:r>
              <a:rPr lang="en-IN" sz="2800" dirty="0">
                <a:latin typeface="Times New Roman"/>
                <a:cs typeface="Times New Roman"/>
              </a:rPr>
              <a:t>"""</a:t>
            </a:r>
          </a:p>
          <a:p>
            <a:pPr marL="12700" marR="288290">
              <a:lnSpc>
                <a:spcPts val="3340"/>
              </a:lnSpc>
              <a:spcBef>
                <a:spcPts val="235"/>
              </a:spcBef>
            </a:pPr>
            <a:endParaRPr lang="en-IN" sz="2800" dirty="0">
              <a:latin typeface="Times New Roman"/>
              <a:cs typeface="Times New Roman"/>
            </a:endParaRPr>
          </a:p>
          <a:p>
            <a:pPr marL="12700" marR="288290">
              <a:lnSpc>
                <a:spcPts val="3340"/>
              </a:lnSpc>
              <a:spcBef>
                <a:spcPts val="235"/>
              </a:spcBef>
            </a:pPr>
            <a:r>
              <a:rPr lang="en-IN" sz="2800" dirty="0">
                <a:latin typeface="Times New Roman"/>
                <a:cs typeface="Times New Roman"/>
              </a:rPr>
              <a:t>email = </a:t>
            </a:r>
            <a:r>
              <a:rPr lang="en-IN" sz="2800" dirty="0" err="1">
                <a:latin typeface="Times New Roman"/>
                <a:cs typeface="Times New Roman"/>
              </a:rPr>
              <a:t>re.findall</a:t>
            </a:r>
            <a:r>
              <a:rPr lang="en-IN" sz="2800" dirty="0">
                <a:latin typeface="Times New Roman"/>
                <a:cs typeface="Times New Roman"/>
              </a:rPr>
              <a:t>(r'[A-Za-z0-9._%+-]+@[A-Za-z0-9.-]+\.[A-Za-z]{2,}', text)</a:t>
            </a:r>
          </a:p>
          <a:p>
            <a:pPr marL="12700" marR="288290">
              <a:lnSpc>
                <a:spcPts val="3340"/>
              </a:lnSpc>
              <a:spcBef>
                <a:spcPts val="235"/>
              </a:spcBef>
            </a:pPr>
            <a:r>
              <a:rPr lang="en-IN" sz="2800" dirty="0">
                <a:latin typeface="Times New Roman"/>
                <a:cs typeface="Times New Roman"/>
              </a:rPr>
              <a:t>phone = </a:t>
            </a:r>
            <a:r>
              <a:rPr lang="en-IN" sz="2800" dirty="0" err="1">
                <a:latin typeface="Times New Roman"/>
                <a:cs typeface="Times New Roman"/>
              </a:rPr>
              <a:t>re.findall</a:t>
            </a:r>
            <a:r>
              <a:rPr lang="en-IN" sz="2800" dirty="0">
                <a:latin typeface="Times New Roman"/>
                <a:cs typeface="Times New Roman"/>
              </a:rPr>
              <a:t>(r'\d{10}', text)</a:t>
            </a:r>
          </a:p>
          <a:p>
            <a:pPr marL="12700" marR="288290">
              <a:lnSpc>
                <a:spcPts val="3340"/>
              </a:lnSpc>
              <a:spcBef>
                <a:spcPts val="235"/>
              </a:spcBef>
            </a:pPr>
            <a:r>
              <a:rPr lang="en-IN" sz="2800" dirty="0">
                <a:latin typeface="Times New Roman"/>
                <a:cs typeface="Times New Roman"/>
              </a:rPr>
              <a:t>date = </a:t>
            </a:r>
            <a:r>
              <a:rPr lang="en-IN" sz="2800" dirty="0" err="1">
                <a:latin typeface="Times New Roman"/>
                <a:cs typeface="Times New Roman"/>
              </a:rPr>
              <a:t>re.findall</a:t>
            </a:r>
            <a:r>
              <a:rPr lang="en-IN" sz="2800" dirty="0">
                <a:latin typeface="Times New Roman"/>
                <a:cs typeface="Times New Roman"/>
              </a:rPr>
              <a:t>(r'\d{2}-\d{2}-\d{4}', text)</a:t>
            </a:r>
          </a:p>
          <a:p>
            <a:pPr marL="12700" marR="288290">
              <a:lnSpc>
                <a:spcPts val="3340"/>
              </a:lnSpc>
              <a:spcBef>
                <a:spcPts val="235"/>
              </a:spcBef>
            </a:pPr>
            <a:endParaRPr lang="en-IN" sz="2800" dirty="0">
              <a:latin typeface="Times New Roman"/>
              <a:cs typeface="Times New Roman"/>
            </a:endParaRPr>
          </a:p>
          <a:p>
            <a:pPr marL="12700" marR="288290">
              <a:lnSpc>
                <a:spcPts val="3340"/>
              </a:lnSpc>
              <a:spcBef>
                <a:spcPts val="235"/>
              </a:spcBef>
            </a:pPr>
            <a:r>
              <a:rPr lang="en-IN" sz="2800" dirty="0">
                <a:latin typeface="Times New Roman"/>
                <a:cs typeface="Times New Roman"/>
              </a:rPr>
              <a:t>print("Email:", email)</a:t>
            </a:r>
          </a:p>
          <a:p>
            <a:pPr marL="12700" marR="288290">
              <a:lnSpc>
                <a:spcPts val="3340"/>
              </a:lnSpc>
              <a:spcBef>
                <a:spcPts val="235"/>
              </a:spcBef>
            </a:pPr>
            <a:r>
              <a:rPr lang="en-IN" sz="2800" dirty="0">
                <a:latin typeface="Times New Roman"/>
                <a:cs typeface="Times New Roman"/>
              </a:rPr>
              <a:t>print("Phone:", phone)</a:t>
            </a:r>
          </a:p>
          <a:p>
            <a:pPr marL="12700" marR="288290">
              <a:lnSpc>
                <a:spcPts val="3340"/>
              </a:lnSpc>
              <a:spcBef>
                <a:spcPts val="235"/>
              </a:spcBef>
            </a:pPr>
            <a:r>
              <a:rPr lang="en-IN" sz="2800" dirty="0">
                <a:latin typeface="Times New Roman"/>
                <a:cs typeface="Times New Roman"/>
              </a:rPr>
              <a:t>print("Date:", date)</a:t>
            </a:r>
            <a:endParaRPr sz="280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5940" y="287654"/>
            <a:ext cx="1654810" cy="201371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770860" y="287654"/>
            <a:ext cx="2279650" cy="201396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9083EA1-40A4-D110-C13A-B6C62E58A2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00" y="1181100"/>
            <a:ext cx="11201400" cy="815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3029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617845" y="3740657"/>
            <a:ext cx="7132955" cy="1778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500" b="0" dirty="0">
                <a:latin typeface="Calibri"/>
                <a:cs typeface="Calibri"/>
              </a:rPr>
              <a:t>THANK</a:t>
            </a:r>
            <a:r>
              <a:rPr sz="11500" b="0" spc="-60" dirty="0">
                <a:latin typeface="Calibri"/>
                <a:cs typeface="Calibri"/>
              </a:rPr>
              <a:t> </a:t>
            </a:r>
            <a:r>
              <a:rPr sz="11500" b="0" spc="-25" dirty="0">
                <a:latin typeface="Calibri"/>
                <a:cs typeface="Calibri"/>
              </a:rPr>
              <a:t>YOU</a:t>
            </a:r>
            <a:endParaRPr sz="1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</TotalTime>
  <Words>484</Words>
  <Application>Microsoft Office PowerPoint</Application>
  <PresentationFormat>Custom</PresentationFormat>
  <Paragraphs>81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Times New Roman</vt:lpstr>
      <vt:lpstr>Office Theme</vt:lpstr>
      <vt:lpstr>SIMATS SCHOOL OF ENGINEERING SAVEETHA INSTITUTE OF MEDICAL AND TECHNICAL SCIENCES  Regular Expressions for Real-World Text Processing DSA0302-Natural Language Processing </vt:lpstr>
      <vt:lpstr>INTRODUCTION</vt:lpstr>
      <vt:lpstr>Regular Expressions</vt:lpstr>
      <vt:lpstr>Data Validation Using Regex</vt:lpstr>
      <vt:lpstr>Text Extraction and Information Retrieval</vt:lpstr>
      <vt:lpstr>Log Analysis and NLP Applications</vt:lpstr>
      <vt:lpstr>IMPLEMENTATION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SE_PPT_new_192324270_Pola Nandivardhan.pptx</dc:title>
  <dc:creator>jayavarapu Raju</dc:creator>
  <cp:lastModifiedBy>jayavarapu Raju</cp:lastModifiedBy>
  <cp:revision>2</cp:revision>
  <dcterms:created xsi:type="dcterms:W3CDTF">2026-06-12T15:26:25Z</dcterms:created>
  <dcterms:modified xsi:type="dcterms:W3CDTF">2026-07-15T11:17:15Z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2026-06-12T00:00:00Z</vt:filetime>
  </property>
  <property fmtid="{D5CDD505-2E9C-101B-9397-08002B2CF9AE}" pid="4" name="Creator">
    <vt:lpwstr>Microsoft® Word 2016</vt:lpwstr>
  </property>
  <property fmtid="{D5CDD505-2E9C-101B-9397-08002B2CF9AE}" pid="5" name="LastSaved">
    <vt:filetime>2026-06-12T00:00:00Z</vt:filetime>
  </property>
  <property fmtid="{D5CDD505-2E9C-101B-9397-08002B2CF9AE}" pid="6" name="Producer">
    <vt:lpwstr>www.ilovepdf.com</vt:lpwstr>
  </property>
</Properties>
</file>